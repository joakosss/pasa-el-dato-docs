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tamaran Heavy" charset="1" panose="00000A00000000000000"/>
      <p:regular r:id="rId32"/>
    </p:embeddedFont>
    <p:embeddedFont>
      <p:font typeface="Now" charset="1" panose="00000500000000000000"/>
      <p:regular r:id="rId33"/>
    </p:embeddedFont>
    <p:embeddedFont>
      <p:font typeface="Golden Hopes" charset="1" panose="00000000000000000000"/>
      <p:regular r:id="rId34"/>
    </p:embeddedFont>
    <p:embeddedFont>
      <p:font typeface="Now Bold" charset="1" panose="00000800000000000000"/>
      <p:regular r:id="rId35"/>
    </p:embeddedFont>
    <p:embeddedFont>
      <p:font typeface="Montserrat Bold" charset="1" panose="00000800000000000000"/>
      <p:regular r:id="rId39"/>
    </p:embeddedFont>
    <p:embeddedFont>
      <p:font typeface="Montserrat" charset="1" panose="00000500000000000000"/>
      <p:regular r:id="rId40"/>
    </p:embeddedFont>
    <p:embeddedFont>
      <p:font typeface="Now Heavy" charset="1" panose="00000A00000000000000"/>
      <p:regular r:id="rId41"/>
    </p:embeddedFont>
    <p:embeddedFont>
      <p:font typeface="Catamaran Ultra-Bold" charset="1" panose="000009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Servicio de Información de Educación Superior (SIES)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VAHZKHeyW8U.mp4" Type="http://schemas.openxmlformats.org/officeDocument/2006/relationships/video"/><Relationship Id="rId4" Target="../media/VAHZKHeyW8U.mp4" Type="http://schemas.microsoft.com/office/2007/relationships/media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jpeg" Type="http://schemas.openxmlformats.org/officeDocument/2006/relationships/image"/><Relationship Id="rId4" Target="../media/VAHZKP_XVGU.mp4" Type="http://schemas.openxmlformats.org/officeDocument/2006/relationships/video"/><Relationship Id="rId5" Target="../media/VAHZKP_XVGU.mp4" Type="http://schemas.microsoft.com/office/2007/relationships/media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ducacionsuperior.mineduc.cl/wp-content/uploads/sites/49/2026/08/Informe-de-Retencion-de-1er-Ano-de-Pregrado-2026.pdf" TargetMode="External" Type="http://schemas.openxmlformats.org/officeDocument/2006/relationships/hyperlink"/><Relationship Id="rId3" Target="https://observatorio.duoc.cl/editorial/hechos-y-cifras-en-duoc-uc-un-estudio-valioso/" TargetMode="External" Type="http://schemas.openxmlformats.org/officeDocument/2006/relationships/hyperlink"/><Relationship Id="rId4" Target="https://doi.org/10.3102/00346543045001089" TargetMode="External" Type="http://schemas.openxmlformats.org/officeDocument/2006/relationships/hyperlink"/><Relationship Id="rId5" Target="https://doi.org/10.47606/acven/ph0364" TargetMode="External" Type="http://schemas.openxmlformats.org/officeDocument/2006/relationships/hyperlink"/><Relationship Id="rId6" Target="https://www.duoc.cl/admision/" TargetMode="External" Type="http://schemas.openxmlformats.org/officeDocument/2006/relationships/hyperlink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282808"/>
            <a:ext cx="16230600" cy="182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9"/>
              </a:lnSpc>
            </a:pPr>
            <a:r>
              <a:rPr lang="en-US" b="true" sz="10999" spc="362">
                <a:solidFill>
                  <a:srgbClr val="F3F2ED"/>
                </a:solidFill>
                <a:latin typeface="Catamaran Heavy"/>
                <a:ea typeface="Catamaran Heavy"/>
                <a:cs typeface="Catamaran Heavy"/>
                <a:sym typeface="Catamaran Heavy"/>
              </a:rPr>
              <a:t>PASA EL DATO DUOC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2920" y="6623747"/>
            <a:ext cx="8582160" cy="184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Ingeniería en Informática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Escuela de 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Informática y Telecomunicaciones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Sede Puente Alto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2026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6412" y="3662354"/>
            <a:ext cx="15006626" cy="12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0"/>
              </a:lnSpc>
            </a:pPr>
            <a:r>
              <a:rPr lang="en-US" sz="9500" spc="209">
                <a:solidFill>
                  <a:srgbClr val="F3F2ED"/>
                </a:solidFill>
                <a:latin typeface="Golden Hopes"/>
                <a:ea typeface="Golden Hopes"/>
                <a:cs typeface="Golden Hopes"/>
                <a:sym typeface="Golden Hopes"/>
              </a:rPr>
              <a:t>Presentación Portafolio Titulo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199212" y="2617705"/>
            <a:ext cx="2609585" cy="2599391"/>
            <a:chOff x="0" y="0"/>
            <a:chExt cx="6502400" cy="647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3"/>
              <a:stretch>
                <a:fillRect l="223" t="-11542" r="223" b="-21789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0461" y="5495459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124">
                <a:solidFill>
                  <a:srgbClr val="EBECEF"/>
                </a:solidFill>
                <a:latin typeface="Now Bold"/>
                <a:ea typeface="Now Bold"/>
                <a:cs typeface="Now Bold"/>
                <a:sym typeface="Now Bold"/>
              </a:rPr>
              <a:t>Jefe de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0461" y="5938021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124">
                <a:solidFill>
                  <a:srgbClr val="EBECEF"/>
                </a:solidFill>
                <a:latin typeface="Now"/>
                <a:ea typeface="Now"/>
                <a:cs typeface="Now"/>
                <a:sym typeface="Now"/>
              </a:rPr>
              <a:t>FELIPE PONCE 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839208" y="2617705"/>
            <a:ext cx="2609585" cy="2599391"/>
            <a:chOff x="0" y="0"/>
            <a:chExt cx="6502400" cy="647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223" t="0" r="223" b="-33369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60457" y="5495459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124">
                <a:solidFill>
                  <a:srgbClr val="EBECEF"/>
                </a:solidFill>
                <a:latin typeface="Now Bold"/>
                <a:ea typeface="Now Bold"/>
                <a:cs typeface="Now Bold"/>
                <a:sym typeface="Now Bold"/>
              </a:rPr>
              <a:t>Desarrollador Backend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60457" y="5938021"/>
            <a:ext cx="416708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124">
                <a:solidFill>
                  <a:srgbClr val="EBECEF"/>
                </a:solidFill>
                <a:latin typeface="Now"/>
                <a:ea typeface="Now"/>
                <a:cs typeface="Now"/>
                <a:sym typeface="Now"/>
              </a:rPr>
              <a:t>JOAQUÍN PÉREZ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3482669" y="2617705"/>
            <a:ext cx="2609585" cy="2599391"/>
            <a:chOff x="0" y="0"/>
            <a:chExt cx="6502400" cy="647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223" t="-7933" r="223" b="-14764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703918" y="5495459"/>
            <a:ext cx="4316175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124">
                <a:solidFill>
                  <a:srgbClr val="EBECEF"/>
                </a:solidFill>
                <a:latin typeface="Now Bold"/>
                <a:ea typeface="Now Bold"/>
                <a:cs typeface="Now Bold"/>
                <a:sym typeface="Now Bold"/>
              </a:rPr>
              <a:t>Desarrolladora 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3918" y="5938021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124">
                <a:solidFill>
                  <a:srgbClr val="EBECEF"/>
                </a:solidFill>
                <a:latin typeface="Now"/>
                <a:ea typeface="Now"/>
                <a:cs typeface="Now"/>
                <a:sym typeface="Now"/>
              </a:rPr>
              <a:t>CAROL PACHECO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5035211" y="5681223"/>
            <a:ext cx="2609585" cy="2599391"/>
            <a:chOff x="0" y="0"/>
            <a:chExt cx="6502400" cy="647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223" t="-11542" r="223" b="-21789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0700587" y="5681223"/>
            <a:ext cx="2609585" cy="2599391"/>
            <a:chOff x="0" y="0"/>
            <a:chExt cx="6502400" cy="647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7"/>
              <a:stretch>
                <a:fillRect l="223" t="-8127" r="223" b="-25204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EBECE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753968" y="1267980"/>
            <a:ext cx="6780064" cy="88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6000" spc="906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INTEGRANTES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56460" y="8558977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124">
                <a:solidFill>
                  <a:srgbClr val="EBECEF"/>
                </a:solidFill>
                <a:latin typeface="Now Bold"/>
                <a:ea typeface="Now Bold"/>
                <a:cs typeface="Now Bold"/>
                <a:sym typeface="Now Bold"/>
              </a:rPr>
              <a:t>Desarrolladora Móvil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56460" y="9001539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124">
                <a:solidFill>
                  <a:srgbClr val="EBECEF"/>
                </a:solidFill>
                <a:latin typeface="Now"/>
                <a:ea typeface="Now"/>
                <a:cs typeface="Now"/>
                <a:sym typeface="Now"/>
              </a:rPr>
              <a:t>ÁMBAR HIDALGO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1836" y="8558977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124">
                <a:solidFill>
                  <a:srgbClr val="EBECEF"/>
                </a:solidFill>
                <a:latin typeface="Now Bold"/>
                <a:ea typeface="Now Bold"/>
                <a:cs typeface="Now Bold"/>
                <a:sym typeface="Now Bold"/>
              </a:rPr>
              <a:t>Diseñadora UX/UI y QA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1836" y="9001539"/>
            <a:ext cx="4167087" cy="37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124">
                <a:solidFill>
                  <a:srgbClr val="EBECEF"/>
                </a:solidFill>
                <a:latin typeface="Now"/>
                <a:ea typeface="Now"/>
                <a:cs typeface="Now"/>
                <a:sym typeface="Now"/>
              </a:rPr>
              <a:t>KATHERINE PEREIRA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6679" y="1529320"/>
            <a:ext cx="14674642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D</a:t>
            </a: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ESCRIPCIÓN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3296" y="4056050"/>
            <a:ext cx="14941408" cy="168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Los estudiantes de Duoc UC compran y venden entre ellos por grupos masivos de WhatsApp, sin ningún control ni trazabilidad — esto expone a la institución a riesgo reputacional y de seguridad (transacciones "a ciegas").</a:t>
            </a:r>
          </a:p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Esto se conecta con la deserción de primer año (27%–30% según el SIES, ~9.000 estudiantes al año), parte de la cual se explica por falta de sentido de comunidad, no por causas académicas.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296" y="3330450"/>
            <a:ext cx="795763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708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8164" y="6530429"/>
            <a:ext cx="795763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8428" y="7257634"/>
            <a:ext cx="14941408" cy="125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Pasa el Dato Duoc es una plataf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orma web y móvil exclusiva para la comunidad Duoc UC, con registro verificado por correo institucional, chat en tiempo real, geolocalización y moderación automática. Se autofinancia con activaciones de marca, por lo que el ahorro por retención es utilidad neta para Duoc UC.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97481" y="3349500"/>
            <a:ext cx="6197102" cy="44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3054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P</a:t>
            </a:r>
            <a:r>
              <a:rPr lang="en-US" sz="3054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roblemática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12614" y="6549479"/>
            <a:ext cx="6197102" cy="44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3054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Propu</a:t>
            </a:r>
            <a:r>
              <a:rPr lang="en-US" sz="3054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esta de solución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2641" y="1225000"/>
            <a:ext cx="15222719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9"/>
              </a:lnSpc>
            </a:pPr>
            <a:r>
              <a:rPr lang="en-US" b="true" sz="4499" spc="4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IMPAC</a:t>
            </a:r>
            <a:r>
              <a:rPr lang="en-US" b="true" sz="4499" spc="4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TO FINANCIERO PARA DUOC UC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3850" y="2282519"/>
            <a:ext cx="14760300" cy="40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R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educir solo </a:t>
            </a:r>
            <a:r>
              <a:rPr lang="en-US" b="true" sz="2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1%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la deserción de primer año representa ~$56.000.000 CLP preservados en aranceles al año.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3850" y="8317554"/>
            <a:ext cx="14760300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Este ah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orro se autofinancia con las activaciones de marca, por lo que representa utilidad neta para la institución desde el primer año, sin costo operativo adicional.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27908" y="2279450"/>
            <a:ext cx="9526776" cy="6511292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427214" y="3389304"/>
            <a:ext cx="4102659" cy="428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32.300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Estudiantes de</a:t>
            </a: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1er año.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  <a:r>
              <a:rPr lang="en-US" sz="1800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27%–30%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Deserción (SIES).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  <a:r>
              <a:rPr lang="en-US" sz="1800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~9.000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Abandonan cada año.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  <a:r>
              <a:rPr lang="en-US" sz="1800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25%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Atribuible a integración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social (estimación propia).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  <a:r>
              <a:rPr lang="en-US" sz="1800" b="true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~2.250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Estudiantes/año en este grupo.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10989" y="7820951"/>
            <a:ext cx="8572901" cy="17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0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*Según informes recientes del SIES, la retención de primer año en Institutos Profesionales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2641" y="1432038"/>
            <a:ext cx="15222719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OBJETIVO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34280" y="2593168"/>
            <a:ext cx="11219440" cy="120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Desarr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ollar una plataforma web y móvil que formalice y dé trazabilidad al comercio informal entre estudiantes de Duoc UC, transformándolo en un espacio seguro, verificado y con valor para la institución.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16821" y="6032016"/>
            <a:ext cx="5199979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iseñar la arquitectura del sistema y el modelo de datos.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1461" y="7283213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16821" y="8143133"/>
            <a:ext cx="5199979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Desarr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ollar el módulo de autenticación y usuarios con correo institucional.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1461" y="6202827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1461" y="8359524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2641" y="4870886"/>
            <a:ext cx="15222719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OBJETIVOS ESPECÍFICOS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6821" y="7066849"/>
            <a:ext cx="5199979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iseñar la interfaz de usuario web y móvil.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36561" y="6032016"/>
            <a:ext cx="5199979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esarrollar el módulo de publicaciones y catálogo.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1201" y="7283213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36561" y="8143133"/>
            <a:ext cx="5199979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Desarr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ollar el panel de administración y gestión de reportes.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1201" y="6202827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1201" y="8359524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36561" y="7066849"/>
            <a:ext cx="5199979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De</a:t>
            </a: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sarrollar el chat en tiempo real entre comprador y vendedor.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602838" y="2708687"/>
          <a:ext cx="6978922" cy="6695111"/>
        </p:xfrm>
        <a:graphic>
          <a:graphicData uri="http://schemas.openxmlformats.org/drawingml/2006/table">
            <a:tbl>
              <a:tblPr/>
              <a:tblGrid>
                <a:gridCol w="6696752"/>
              </a:tblGrid>
              <a:tr h="91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Registro y login exclusivo con correo institucional @duocuc.cl.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Publicar, editar y eliminar productos o servicios con imágenes.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Buscar y filtrar por categoría, sede y tipo de venta.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Chat en tiempo real entre comprador y vendedor.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Geolocalización para coordinar encuentros seguros.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Favoritos, calificaciones, reportes y notificaciones.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00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Panel de administración con bloqueo y gestión de reportes.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Módulo de banners publicitarios para marcas.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887534" y="1806809"/>
            <a:ext cx="6409531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QUE HACE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6260" y="1249368"/>
            <a:ext cx="8615481" cy="36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Alcances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90935" y="1806809"/>
            <a:ext cx="6409531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QUE NO HACE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706240" y="2728307"/>
          <a:ext cx="6978922" cy="3473256"/>
        </p:xfrm>
        <a:graphic>
          <a:graphicData uri="http://schemas.openxmlformats.org/drawingml/2006/table">
            <a:tbl>
              <a:tblPr/>
              <a:tblGrid>
                <a:gridCol w="6696752"/>
              </a:tblGrid>
              <a:tr h="914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No procesa pagos ni dinero dentro de la aplicación.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6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No gestiona envíos ni logística de despacho.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No realiza verificación biométrica presencial.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No se conecta con sistemas académicos internos de notas o matrícula.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78386" y="2572222"/>
            <a:ext cx="15131228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FUNCIONALES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2177" y="4186418"/>
            <a:ext cx="5199979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Aut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enticación y gestión de usuarios con correo institucional.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6817" y="5559825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2177" y="6705278"/>
            <a:ext cx="5851823" cy="40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Búsqueda,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filtrado y gestión multisede.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6817" y="4357228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6817" y="6716895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92177" y="5343461"/>
            <a:ext cx="5199979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Ge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stión de publicaciones: estados, imágenes y categorías.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6260" y="1810049"/>
            <a:ext cx="8615481" cy="36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Requerimientos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61205" y="4186418"/>
            <a:ext cx="5199979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G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eolocalización y sugerencia de precios por 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94427" y="5559825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59787" y="6500504"/>
            <a:ext cx="5199979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Reporte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 de usuario y publicación con gestión administrativa.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94427" y="4357228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23875" y="6716895"/>
            <a:ext cx="542030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59787" y="5343461"/>
            <a:ext cx="5681459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Fav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oritos, calificaciones y moderación automática de contenido.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93594" y="7857601"/>
            <a:ext cx="5199979" cy="40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Ch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at en tiempo real y notificaciones.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6817" y="7869406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61205" y="7657547"/>
            <a:ext cx="5199979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Ges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tión de publicidad, categorías y tipos de venta.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50950" y="7869406"/>
            <a:ext cx="614955" cy="4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78386" y="2165649"/>
            <a:ext cx="15131228" cy="7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NO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4368" y="3193429"/>
            <a:ext cx="5747758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Ecosist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ema multiplataforma disponible en web y aplicación móvil.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9008" y="4380475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4368" y="5135915"/>
            <a:ext cx="5747758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Arquitectura modular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construida en capas con NestJS y ORM/ODM.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9008" y="3364240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9008" y="5352306"/>
            <a:ext cx="971478" cy="43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4368" y="4164111"/>
            <a:ext cx="5747758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Aud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itoría y trazabilidad mediante registro de logs de todas las acciones.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36260" y="1403477"/>
            <a:ext cx="8615481" cy="36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Requerimientos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935" y="7088051"/>
            <a:ext cx="5747758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eguridad de acceso con contraseñas encriptadas mediante Argon2.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41621" y="3409793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06981" y="4164111"/>
            <a:ext cx="5714782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Disponibilidad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del sistema de forma continua las 24 horas.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9008" y="7258861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1621" y="4380502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171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06981" y="3193429"/>
            <a:ext cx="6102011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istema amigable, de fácil uso y con ayudas para el usuario.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44368" y="6111983"/>
            <a:ext cx="5747758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Sistem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a responsivo, adaptable a cualquier dispositivo.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9008" y="6323842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08539" y="5135915"/>
            <a:ext cx="5714782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In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tegridad y consistencia de datos garantizada en PostgreSQL.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41621" y="5347774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08539" y="6107719"/>
            <a:ext cx="5714782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Identidad e imag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en corporativa alineada a la línea gráfica de Duoc UC.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41621" y="6278530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45935" y="8064119"/>
            <a:ext cx="5747758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C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olores agradables que no afecten la experiencia del usuario.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9008" y="8234929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08539" y="7083787"/>
            <a:ext cx="6100454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G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obernanza y cumplimiento mediante herramientas de trazabilidad institucional.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41621" y="7254598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11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08539" y="8059855"/>
            <a:ext cx="6100454" cy="82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Sust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entabilidad financiera mediante banners que autofinancian la mantención.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41621" y="8230666"/>
            <a:ext cx="971478" cy="4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2"/>
              </a:lnSpc>
            </a:pPr>
            <a:r>
              <a:rPr lang="en-US" b="true" sz="2914" spc="440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5300" y="2876722"/>
            <a:ext cx="16537400" cy="5582320"/>
          </a:xfrm>
          <a:custGeom>
            <a:avLst/>
            <a:gdLst/>
            <a:ahLst/>
            <a:cxnLst/>
            <a:rect r="r" b="b" t="t" l="l"/>
            <a:pathLst>
              <a:path h="5582320" w="16537400">
                <a:moveTo>
                  <a:pt x="0" y="0"/>
                </a:moveTo>
                <a:lnTo>
                  <a:pt x="16537400" y="0"/>
                </a:lnTo>
                <a:lnTo>
                  <a:pt x="16537400" y="5582320"/>
                </a:lnTo>
                <a:lnTo>
                  <a:pt x="0" y="5582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0" t="-310" r="-112" b="-61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8386" y="1800397"/>
            <a:ext cx="1513122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MATRIZ DE RIESGOS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Planificación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-499149" y="5145330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5835310" y="1540734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7"/>
                  </a:lnTo>
                  <a:lnTo>
                    <a:pt x="0" y="56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25332" y="1756578"/>
            <a:ext cx="13237337" cy="7644003"/>
          </a:xfrm>
          <a:custGeom>
            <a:avLst/>
            <a:gdLst/>
            <a:ahLst/>
            <a:cxnLst/>
            <a:rect r="r" b="b" t="t" l="l"/>
            <a:pathLst>
              <a:path h="7644003" w="13237337">
                <a:moveTo>
                  <a:pt x="0" y="0"/>
                </a:moveTo>
                <a:lnTo>
                  <a:pt x="13237336" y="0"/>
                </a:lnTo>
                <a:lnTo>
                  <a:pt x="13237336" y="7644004"/>
                </a:lnTo>
                <a:lnTo>
                  <a:pt x="0" y="7644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4" t="-1642" r="-928" b="-1279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Diseño - Modelo as-is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56073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-499149" y="5145330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5835310" y="1540734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7"/>
                  </a:lnTo>
                  <a:lnTo>
                    <a:pt x="0" y="56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07375" y="1802471"/>
            <a:ext cx="14073119" cy="7348333"/>
          </a:xfrm>
          <a:custGeom>
            <a:avLst/>
            <a:gdLst/>
            <a:ahLst/>
            <a:cxnLst/>
            <a:rect r="r" b="b" t="t" l="l"/>
            <a:pathLst>
              <a:path h="7348333" w="14073119">
                <a:moveTo>
                  <a:pt x="0" y="0"/>
                </a:moveTo>
                <a:lnTo>
                  <a:pt x="14073119" y="0"/>
                </a:lnTo>
                <a:lnTo>
                  <a:pt x="14073119" y="7348333"/>
                </a:lnTo>
                <a:lnTo>
                  <a:pt x="0" y="7348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5" t="-1677" r="-846" b="-1286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Diseño - Modelo to-be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92833" y="905495"/>
            <a:ext cx="9344992" cy="8474098"/>
          </a:xfrm>
          <a:custGeom>
            <a:avLst/>
            <a:gdLst/>
            <a:ahLst/>
            <a:cxnLst/>
            <a:rect r="r" b="b" t="t" l="l"/>
            <a:pathLst>
              <a:path h="8474098" w="9344992">
                <a:moveTo>
                  <a:pt x="0" y="0"/>
                </a:moveTo>
                <a:lnTo>
                  <a:pt x="9344992" y="0"/>
                </a:lnTo>
                <a:lnTo>
                  <a:pt x="9344992" y="8474098"/>
                </a:lnTo>
                <a:lnTo>
                  <a:pt x="0" y="8474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089794" y="4334487"/>
            <a:ext cx="5780932" cy="192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6"/>
              </a:lnSpc>
            </a:pPr>
            <a:r>
              <a:rPr lang="en-US" b="true" sz="4418" spc="490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MODELO DATOS RELACIONAL SIMPLIFICADO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2519" y="3442591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Diseño del Sistema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323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-499149" y="5145330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5835310" y="1540734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7"/>
                  </a:lnTo>
                  <a:lnTo>
                    <a:pt x="0" y="56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532038" y="2600870"/>
            <a:ext cx="9341194" cy="6767351"/>
          </a:xfrm>
          <a:custGeom>
            <a:avLst/>
            <a:gdLst/>
            <a:ahLst/>
            <a:cxnLst/>
            <a:rect r="r" b="b" t="t" l="l"/>
            <a:pathLst>
              <a:path h="6767351" w="9341194">
                <a:moveTo>
                  <a:pt x="0" y="0"/>
                </a:moveTo>
                <a:lnTo>
                  <a:pt x="9341193" y="0"/>
                </a:lnTo>
                <a:lnTo>
                  <a:pt x="9341193" y="6767351"/>
                </a:lnTo>
                <a:lnTo>
                  <a:pt x="0" y="6767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77" t="-1131" r="-62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78386" y="1800397"/>
            <a:ext cx="15131228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DIAGRAMA DE CASO DE USO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Diseño del Sistema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499704" y="1028700"/>
            <a:ext cx="6955604" cy="8229600"/>
          </a:xfrm>
          <a:custGeom>
            <a:avLst/>
            <a:gdLst/>
            <a:ahLst/>
            <a:cxnLst/>
            <a:rect r="r" b="b" t="t" l="l"/>
            <a:pathLst>
              <a:path h="8229600" w="6955604">
                <a:moveTo>
                  <a:pt x="0" y="0"/>
                </a:moveTo>
                <a:lnTo>
                  <a:pt x="6955604" y="0"/>
                </a:lnTo>
                <a:lnTo>
                  <a:pt x="69556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38259" y="4935873"/>
            <a:ext cx="7305741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PATRÓN ARQUITECTÓNICO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70186" y="3912852"/>
            <a:ext cx="444188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Arquitectura del Sistema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1455" y="2800812"/>
            <a:ext cx="5208277" cy="6030476"/>
          </a:xfrm>
          <a:custGeom>
            <a:avLst/>
            <a:gdLst/>
            <a:ahLst/>
            <a:cxnLst/>
            <a:rect r="r" b="b" t="t" l="l"/>
            <a:pathLst>
              <a:path h="6030476" w="5208277">
                <a:moveTo>
                  <a:pt x="0" y="0"/>
                </a:moveTo>
                <a:lnTo>
                  <a:pt x="5208277" y="0"/>
                </a:lnTo>
                <a:lnTo>
                  <a:pt x="5208277" y="6030476"/>
                </a:lnTo>
                <a:lnTo>
                  <a:pt x="0" y="6030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4" t="-1422" r="-1645" b="-140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39039" y="2800812"/>
            <a:ext cx="4549313" cy="6030476"/>
          </a:xfrm>
          <a:custGeom>
            <a:avLst/>
            <a:gdLst/>
            <a:ahLst/>
            <a:cxnLst/>
            <a:rect r="r" b="b" t="t" l="l"/>
            <a:pathLst>
              <a:path h="6030476" w="4549313">
                <a:moveTo>
                  <a:pt x="0" y="0"/>
                </a:moveTo>
                <a:lnTo>
                  <a:pt x="4549312" y="0"/>
                </a:lnTo>
                <a:lnTo>
                  <a:pt x="4549312" y="6030476"/>
                </a:lnTo>
                <a:lnTo>
                  <a:pt x="0" y="6030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9" t="-1198" r="-1643" b="-124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0801" y="2800812"/>
            <a:ext cx="4437888" cy="6030476"/>
          </a:xfrm>
          <a:custGeom>
            <a:avLst/>
            <a:gdLst/>
            <a:ahLst/>
            <a:cxnLst/>
            <a:rect r="r" b="b" t="t" l="l"/>
            <a:pathLst>
              <a:path h="6030476" w="4437888">
                <a:moveTo>
                  <a:pt x="0" y="0"/>
                </a:moveTo>
                <a:lnTo>
                  <a:pt x="4437888" y="0"/>
                </a:lnTo>
                <a:lnTo>
                  <a:pt x="4437888" y="6030476"/>
                </a:lnTo>
                <a:lnTo>
                  <a:pt x="0" y="6030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8" t="-1233" r="-1608" b="-12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Arquitectura del Sistema - Diagrama de Actividades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98843" y="2119939"/>
            <a:ext cx="4942862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b="true" sz="1800" spc="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GESTIONAR PUBLICIDAD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633" y="2119939"/>
            <a:ext cx="5244568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b="true" sz="1800" spc="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PUBLICAR PRODUCTO O SERVICIO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80505" y="2119939"/>
            <a:ext cx="4942862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b="true" sz="1800" spc="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REGISTRARSE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38726" y="1832497"/>
            <a:ext cx="11410547" cy="7607032"/>
          </a:xfrm>
          <a:custGeom>
            <a:avLst/>
            <a:gdLst/>
            <a:ahLst/>
            <a:cxnLst/>
            <a:rect r="r" b="b" t="t" l="l"/>
            <a:pathLst>
              <a:path h="7607032" w="11410547">
                <a:moveTo>
                  <a:pt x="0" y="0"/>
                </a:moveTo>
                <a:lnTo>
                  <a:pt x="11410548" y="0"/>
                </a:lnTo>
                <a:lnTo>
                  <a:pt x="11410548" y="7607032"/>
                </a:lnTo>
                <a:lnTo>
                  <a:pt x="0" y="760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Tecnologías del Desarrollo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-468579" y="5145330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5835310" y="1540734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7"/>
                  </a:lnTo>
                  <a:lnTo>
                    <a:pt x="0" y="56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91298" y="905410"/>
            <a:ext cx="11100226" cy="8520664"/>
          </a:xfrm>
          <a:custGeom>
            <a:avLst/>
            <a:gdLst/>
            <a:ahLst/>
            <a:cxnLst/>
            <a:rect r="r" b="b" t="t" l="l"/>
            <a:pathLst>
              <a:path h="8520664" w="11100226">
                <a:moveTo>
                  <a:pt x="0" y="0"/>
                </a:moveTo>
                <a:lnTo>
                  <a:pt x="11100226" y="0"/>
                </a:lnTo>
                <a:lnTo>
                  <a:pt x="11100226" y="8520664"/>
                </a:lnTo>
                <a:lnTo>
                  <a:pt x="0" y="8520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0" t="-518" r="-143" b="-15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11692" y="4822842"/>
            <a:ext cx="526777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MATRIZ RACI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11519" y="3864781"/>
            <a:ext cx="26277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Planificación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877208"/>
            <a:ext cx="16230600" cy="6287165"/>
          </a:xfrm>
          <a:custGeom>
            <a:avLst/>
            <a:gdLst/>
            <a:ahLst/>
            <a:cxnLst/>
            <a:rect r="r" b="b" t="t" l="l"/>
            <a:pathLst>
              <a:path h="6287165" w="16230600">
                <a:moveTo>
                  <a:pt x="0" y="0"/>
                </a:moveTo>
                <a:lnTo>
                  <a:pt x="16230600" y="0"/>
                </a:lnTo>
                <a:lnTo>
                  <a:pt x="16230600" y="6287165"/>
                </a:lnTo>
                <a:lnTo>
                  <a:pt x="0" y="6287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98226" y="3749171"/>
            <a:ext cx="4996137" cy="275476"/>
          </a:xfrm>
          <a:custGeom>
            <a:avLst/>
            <a:gdLst/>
            <a:ahLst/>
            <a:cxnLst/>
            <a:rect r="r" b="b" t="t" l="l"/>
            <a:pathLst>
              <a:path h="275476" w="4996137">
                <a:moveTo>
                  <a:pt x="0" y="0"/>
                </a:moveTo>
                <a:lnTo>
                  <a:pt x="4996137" y="0"/>
                </a:lnTo>
                <a:lnTo>
                  <a:pt x="4996137" y="275477"/>
                </a:lnTo>
                <a:lnTo>
                  <a:pt x="0" y="275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8386" y="1800883"/>
            <a:ext cx="1513122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 spc="55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6260" y="1038710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Planificación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000501" y="2586730"/>
          <a:ext cx="14286997" cy="6339580"/>
        </p:xfrm>
        <a:graphic>
          <a:graphicData uri="http://schemas.openxmlformats.org/drawingml/2006/table">
            <a:tbl>
              <a:tblPr/>
              <a:tblGrid>
                <a:gridCol w="4762332"/>
                <a:gridCol w="4762332"/>
                <a:gridCol w="4762332"/>
              </a:tblGrid>
              <a:tr h="9990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Categoría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Ítem / 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Subtotal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0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RRHH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Jefe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$2.100.000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64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RRHH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Desarrollo Frontend, Backend y Móvil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$5.250.000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0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RRHH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Diseño UX/UI + QA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$1.575.000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0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Setup inicial (Dominio, SSL)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0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TOTAL CAPEX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Inversión Inicial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$8.940.000 CLP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Resumen de Costos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6496" y="1977780"/>
            <a:ext cx="13138894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b="true">
                <a:solidFill>
                  <a:srgbClr val="4E6288"/>
                </a:solidFill>
                <a:latin typeface="Now Heavy"/>
                <a:ea typeface="Now Heavy"/>
                <a:cs typeface="Now Heavy"/>
                <a:sym typeface="Now Heavy"/>
              </a:rPr>
              <a:t>Presupuesto de desarrollo (CAPEX) — Inversión i</a:t>
            </a:r>
            <a:r>
              <a:rPr lang="en-US" sz="2400" b="true">
                <a:solidFill>
                  <a:srgbClr val="4E6288"/>
                </a:solidFill>
                <a:latin typeface="Now Heavy"/>
                <a:ea typeface="Now Heavy"/>
                <a:cs typeface="Now Heavy"/>
                <a:sym typeface="Now Heavy"/>
              </a:rPr>
              <a:t>nicial para 3,5 meses de desarrollo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Resumen de Costos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2783" y="1615505"/>
            <a:ext cx="5044800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b="true">
                <a:solidFill>
                  <a:srgbClr val="4E6288"/>
                </a:solidFill>
                <a:latin typeface="Now Heavy"/>
                <a:ea typeface="Now Heavy"/>
                <a:cs typeface="Now Heavy"/>
                <a:sym typeface="Now Heavy"/>
              </a:rPr>
              <a:t>Costo oper</a:t>
            </a:r>
            <a:r>
              <a:rPr lang="en-US" sz="2400" b="true">
                <a:solidFill>
                  <a:srgbClr val="4E6288"/>
                </a:solidFill>
                <a:latin typeface="Now Heavy"/>
                <a:ea typeface="Now Heavy"/>
                <a:cs typeface="Now Heavy"/>
                <a:sym typeface="Now Heavy"/>
              </a:rPr>
              <a:t>ativo anual (OPEX)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000501" y="2164210"/>
          <a:ext cx="14286997" cy="7104588"/>
        </p:xfrm>
        <a:graphic>
          <a:graphicData uri="http://schemas.openxmlformats.org/drawingml/2006/table">
            <a:tbl>
              <a:tblPr/>
              <a:tblGrid>
                <a:gridCol w="4762332"/>
                <a:gridCol w="4762332"/>
                <a:gridCol w="4762332"/>
              </a:tblGrid>
              <a:tr h="9983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Categoría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Ítem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Costo Anual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Hosting y BD (Render, Vercel, Neon, MongoDB)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$780.000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56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nfraestructura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APIs y Servicios (Gemini API, Mapbox, Dominio)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$315.000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RRHH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Mantención técnica (Soporte preventivo / on-demand)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$1.800.000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0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</a:t>
                      </a: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RHH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Moderación de contenido (Supervisión de IA y soporte)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$1.800.000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83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TOTAL OPEX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Mantención Anual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$4.695.000 CLP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29875" y="523055"/>
            <a:ext cx="16428250" cy="924089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836260" y="1038225"/>
            <a:ext cx="8615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Sistema Desarrollado Web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-560289" y="5145330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00000">
              <a:off x="15804740" y="1571304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7"/>
                  </a:lnTo>
                  <a:lnTo>
                    <a:pt x="0" y="56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4096" r="0" b="0"/>
          <a:stretch>
            <a:fillRect/>
          </a:stretch>
        </p:blipFill>
        <p:spPr>
          <a:xfrm flipH="false" flipV="false" rot="0">
            <a:off x="7163741" y="1028700"/>
            <a:ext cx="3960518" cy="8229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494372" y="4387867"/>
            <a:ext cx="498748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Sistema Desarrollado Mobile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99705" y="1494438"/>
            <a:ext cx="13888590" cy="88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6000" spc="666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CONCLUSIONES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25280" y="2847086"/>
            <a:ext cx="12637441" cy="641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607"/>
              </a:lnSpc>
              <a:buFont typeface="Arial"/>
              <a:buChar char="•"/>
            </a:pPr>
            <a:r>
              <a:rPr lang="en-US" b="true" sz="2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Impact</a:t>
            </a:r>
            <a:r>
              <a:rPr lang="en-US" b="true" sz="2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o Económico: 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Economía circular estudiantil implementada con éxito, autofinanciada mediante publicidad y capaz de preservar aranceles institucionales.</a:t>
            </a:r>
          </a:p>
          <a:p>
            <a:pPr algn="l">
              <a:lnSpc>
                <a:spcPts val="3607"/>
              </a:lnSpc>
            </a:pPr>
          </a:p>
          <a:p>
            <a:pPr algn="l" marL="474979" indent="-237490" lvl="1">
              <a:lnSpc>
                <a:spcPts val="3607"/>
              </a:lnSpc>
              <a:buFont typeface="Arial"/>
              <a:buChar char="•"/>
            </a:pPr>
            <a:r>
              <a:rPr lang="en-US" b="true" sz="2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Impacto Social y de Seguridad: 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Entorno verificado y seguro que mitiga drásticamente el riesgo de fraude, protegiendo a la comunidad estudiantil de Duoc UC.</a:t>
            </a:r>
          </a:p>
          <a:p>
            <a:pPr algn="l">
              <a:lnSpc>
                <a:spcPts val="3607"/>
              </a:lnSpc>
            </a:pPr>
          </a:p>
          <a:p>
            <a:pPr algn="l" marL="474979" indent="-237490" lvl="1">
              <a:lnSpc>
                <a:spcPts val="3607"/>
              </a:lnSpc>
              <a:buFont typeface="Arial"/>
              <a:buChar char="•"/>
            </a:pPr>
            <a:r>
              <a:rPr lang="en-US" b="true" sz="2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Impacto Institucional: 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Herramienta real de gobernanza, trazabilidad y analítica de datos que otorga a la institución visibilidad sobre el comercio estudiantil.</a:t>
            </a:r>
          </a:p>
          <a:p>
            <a:pPr algn="l">
              <a:lnSpc>
                <a:spcPts val="3607"/>
              </a:lnSpc>
            </a:pPr>
          </a:p>
          <a:p>
            <a:pPr algn="l" marL="474979" indent="-237490" lvl="1">
              <a:lnSpc>
                <a:spcPts val="3607"/>
              </a:lnSpc>
              <a:buFont typeface="Arial"/>
              <a:buChar char="•"/>
            </a:pPr>
            <a:r>
              <a:rPr lang="en-US" b="true" sz="2199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Cierre de Fase 2: </a:t>
            </a:r>
            <a:r>
              <a:rPr lang="en-US" sz="2199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Este proyecto transformó una necesidad real vivida como estudiantes en un sistema funcional multiplataforma (Web y Móvil) con arquitectura robusta. Agradecemos al equipo docente por su valiosa guía y retroalimentación durante el desarrollo y construcción de esta segunda fase del proyecto.</a:t>
            </a:r>
          </a:p>
          <a:p>
            <a:pPr algn="l">
              <a:lnSpc>
                <a:spcPts val="3607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7115" y="4194548"/>
            <a:ext cx="14613770" cy="279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1"/>
              </a:lnSpc>
            </a:pPr>
            <a:r>
              <a:rPr lang="en-US" b="true" sz="17100" spc="564">
                <a:solidFill>
                  <a:srgbClr val="F3F2ED"/>
                </a:solidFill>
                <a:latin typeface="Catamaran Ultra-Bold"/>
                <a:ea typeface="Catamaran Ultra-Bold"/>
                <a:cs typeface="Catamaran Ultra-Bold"/>
                <a:sym typeface="Catamaran Ultra-Bold"/>
              </a:rPr>
              <a:t>GRACIAS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0687" y="3616714"/>
            <a:ext cx="15006626" cy="16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8"/>
              </a:lnSpc>
            </a:pPr>
            <a:r>
              <a:rPr lang="en-US" sz="13100">
                <a:solidFill>
                  <a:srgbClr val="F3F2ED"/>
                </a:solidFill>
                <a:latin typeface="Golden Hopes"/>
                <a:ea typeface="Golden Hopes"/>
                <a:cs typeface="Golden Hopes"/>
                <a:sym typeface="Golden Hopes"/>
              </a:rPr>
              <a:t>Muchas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4477434" cy="2403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434" cy="2403817"/>
            </a:xfrm>
            <a:custGeom>
              <a:avLst/>
              <a:gdLst/>
              <a:ahLst/>
              <a:cxnLst/>
              <a:rect r="r" b="b" t="t" l="l"/>
              <a:pathLst>
                <a:path h="2403817" w="4477434">
                  <a:moveTo>
                    <a:pt x="0" y="0"/>
                  </a:moveTo>
                  <a:lnTo>
                    <a:pt x="4477434" y="0"/>
                  </a:lnTo>
                  <a:lnTo>
                    <a:pt x="4477434" y="2403817"/>
                  </a:lnTo>
                  <a:lnTo>
                    <a:pt x="0" y="2403817"/>
                  </a:lnTo>
                  <a:close/>
                </a:path>
              </a:pathLst>
            </a:custGeom>
            <a:ln w="104775" cap="sq">
              <a:solidFill>
                <a:srgbClr val="F1EFE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77434" cy="2432392"/>
            </a:xfrm>
            <a:prstGeom prst="rect">
              <a:avLst/>
            </a:prstGeom>
          </p:spPr>
          <p:txBody>
            <a:bodyPr anchor="ctr" rtlCol="false" tIns="51434" lIns="51434" bIns="51434" rIns="51434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36975" y="1118019"/>
            <a:ext cx="9629282" cy="36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Heavy"/>
                <a:ea typeface="Now Heavy"/>
                <a:cs typeface="Now Heavy"/>
                <a:sym typeface="Now Heavy"/>
              </a:rPr>
              <a:t>Fuentes Justificación de Costos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7107" y="1830646"/>
            <a:ext cx="15913786" cy="734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Informe de Retención de 1er Año de Pregrado, Cohortes 2021-2025. Ministerio de Educación de Chile.</a:t>
            </a:r>
          </a:p>
          <a:p>
            <a:pPr algn="l" marL="453390" indent="-226695" lvl="1">
              <a:lnSpc>
                <a:spcPts val="3234"/>
              </a:lnSpc>
              <a:buFont typeface="Arial"/>
              <a:buChar char="•"/>
            </a:pPr>
            <a:r>
              <a:rPr lang="en-US" sz="2100" u="sng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  <a:hlinkClick r:id="rId2" tooltip="https://educacionsuperior.mineduc.cl/wp-content/uploads/sites/49/2026/08/Informe-de-Retencion-de-1er-Ano-de-Pregrado-2026.pdf"/>
              </a:rPr>
              <a:t>Retención de 1er año en Institutos Profesionales: 72,5% (27,5% de deserción), cohorte 2025.</a:t>
            </a:r>
          </a:p>
          <a:p>
            <a:pPr algn="l">
              <a:lnSpc>
                <a:spcPts val="3234"/>
              </a:lnSpc>
            </a:pPr>
          </a:p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Observatorio Duoc UC (2025). Hechos y cifras en Duoc UC: un estudio valioso. Subdirección de Análisis y Estudios, Duoc UC.</a:t>
            </a:r>
          </a:p>
          <a:p>
            <a:pPr algn="l" marL="453390" indent="-226695" lvl="1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</a:t>
            </a:r>
            <a:r>
              <a:rPr lang="en-US" sz="2100" u="sng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  <a:hlinkClick r:id="rId3" tooltip="https://observatorio.duoc.cl/editorial/hechos-y-cifras-en-duoc-uc-un-estudio-valioso/"/>
              </a:rPr>
              <a:t>Matrícula total: 102.817 estudiantes; 31,4% corresponde a primer año (~32.300 estudiantes).</a:t>
            </a:r>
          </a:p>
          <a:p>
            <a:pPr algn="l">
              <a:lnSpc>
                <a:spcPts val="3234"/>
              </a:lnSpc>
            </a:pPr>
          </a:p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Tinto, V. (1975). Dropout from Higher Education: A Theoretical Synthesis of Recent Research. Review of Educational Research, 45(1), 89–125.</a:t>
            </a:r>
          </a:p>
          <a:p>
            <a:pPr algn="l" marL="453390" indent="-226695" lvl="1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</a:t>
            </a:r>
            <a:r>
              <a:rPr lang="en-US" sz="2100" u="sng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  <a:hlinkClick r:id="rId4" tooltip="https://doi.org/10.3102/00346543045001089"/>
              </a:rPr>
              <a:t>Modelo de integración social y académica como factor explicativo de la deserción estudiantil.</a:t>
            </a:r>
          </a:p>
          <a:p>
            <a:pPr algn="l">
              <a:lnSpc>
                <a:spcPts val="3234"/>
              </a:lnSpc>
            </a:pPr>
          </a:p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Hermida Bravo, K. R., Herrera Cepeda, A. C., Crespo Campoverde, C. E., Borbor Pilligua, J. G., &amp; Maldonado Palacios, I. A. (2025). Factores psicosociales que inciden en la deserción universitaria. Prohominum, 7(3), 174–185. </a:t>
            </a:r>
          </a:p>
          <a:p>
            <a:pPr algn="l" marL="453390" indent="-226695" lvl="1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</a:t>
            </a:r>
            <a:r>
              <a:rPr lang="en-US" sz="2100" u="sng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  <a:hlinkClick r:id="rId5" tooltip="https://doi.org/10.47606/acven/ph0364"/>
              </a:rPr>
              <a:t>Estudio realizado en universidades públicas de Ecuador; usado solo como respaldo conceptual de la magnitud del fenómeno psicosocial.</a:t>
            </a:r>
          </a:p>
          <a:p>
            <a:pPr algn="l">
              <a:lnSpc>
                <a:spcPts val="3234"/>
              </a:lnSpc>
            </a:pPr>
          </a:p>
          <a:p>
            <a:pPr algn="l">
              <a:lnSpc>
                <a:spcPts val="3234"/>
              </a:lnSpc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Duoc UC (2026). Aranceles por carrera, Admisión 2026.</a:t>
            </a:r>
          </a:p>
          <a:p>
            <a:pPr algn="l" marL="453390" indent="-226695" lvl="1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 </a:t>
            </a:r>
            <a:r>
              <a:rPr lang="en-US" sz="2100" u="sng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  <a:hlinkClick r:id="rId6" tooltip="https://www.duoc.cl/admision/"/>
              </a:rPr>
              <a:t>Arancel anual promedio estimado: ~$2.500.000 CLP (rango $2,2M–$3,1M según carrera)</a:t>
            </a:r>
            <a:r>
              <a:rPr lang="en-US" sz="2100" u="sng">
                <a:solidFill>
                  <a:srgbClr val="F3F2ED"/>
                </a:solidFill>
                <a:latin typeface="Now"/>
                <a:ea typeface="Now"/>
                <a:cs typeface="Now"/>
                <a:sym typeface="Now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6A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7798" y="523055"/>
            <a:ext cx="17212405" cy="9240891"/>
            <a:chOff x="0" y="0"/>
            <a:chExt cx="22949873" cy="123211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949873" cy="12321188"/>
              <a:chOff x="0" y="0"/>
              <a:chExt cx="4477434" cy="240381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7434" cy="2403817"/>
              </a:xfrm>
              <a:custGeom>
                <a:avLst/>
                <a:gdLst/>
                <a:ahLst/>
                <a:cxnLst/>
                <a:rect r="r" b="b" t="t" l="l"/>
                <a:pathLst>
                  <a:path h="2403817" w="4477434">
                    <a:moveTo>
                      <a:pt x="0" y="0"/>
                    </a:moveTo>
                    <a:lnTo>
                      <a:pt x="4477434" y="0"/>
                    </a:lnTo>
                    <a:lnTo>
                      <a:pt x="4477434" y="2403817"/>
                    </a:lnTo>
                    <a:lnTo>
                      <a:pt x="0" y="2403817"/>
                    </a:lnTo>
                    <a:close/>
                  </a:path>
                </a:pathLst>
              </a:custGeom>
              <a:ln w="104775" cap="sq">
                <a:solidFill>
                  <a:srgbClr val="F1EFE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4477434" cy="2432392"/>
              </a:xfrm>
              <a:prstGeom prst="rect">
                <a:avLst/>
              </a:prstGeom>
            </p:spPr>
            <p:txBody>
              <a:bodyPr anchor="ctr" rtlCol="false" tIns="51434" lIns="51434" bIns="51434" rIns="51434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540237" y="536946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2" y="0"/>
                  </a:lnTo>
                  <a:lnTo>
                    <a:pt x="7633942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826494" y="6156827"/>
              <a:ext cx="7633942" cy="5610947"/>
            </a:xfrm>
            <a:custGeom>
              <a:avLst/>
              <a:gdLst/>
              <a:ahLst/>
              <a:cxnLst/>
              <a:rect r="r" b="b" t="t" l="l"/>
              <a:pathLst>
                <a:path h="5610947" w="7633942">
                  <a:moveTo>
                    <a:pt x="0" y="0"/>
                  </a:moveTo>
                  <a:lnTo>
                    <a:pt x="7633943" y="0"/>
                  </a:lnTo>
                  <a:lnTo>
                    <a:pt x="7633943" y="5610948"/>
                  </a:lnTo>
                  <a:lnTo>
                    <a:pt x="0" y="561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81093" y="910820"/>
            <a:ext cx="10635178" cy="8493349"/>
          </a:xfrm>
          <a:custGeom>
            <a:avLst/>
            <a:gdLst/>
            <a:ahLst/>
            <a:cxnLst/>
            <a:rect r="r" b="b" t="t" l="l"/>
            <a:pathLst>
              <a:path h="8493349" w="10635178">
                <a:moveTo>
                  <a:pt x="0" y="0"/>
                </a:moveTo>
                <a:lnTo>
                  <a:pt x="10635178" y="0"/>
                </a:lnTo>
                <a:lnTo>
                  <a:pt x="10635178" y="8493349"/>
                </a:lnTo>
                <a:lnTo>
                  <a:pt x="0" y="8493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4" r="0" b="-182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05980" y="3792386"/>
            <a:ext cx="5743029" cy="135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b="true" sz="4642" spc="515">
                <a:solidFill>
                  <a:srgbClr val="F3F2ED"/>
                </a:solidFill>
                <a:latin typeface="Now Bold"/>
                <a:ea typeface="Now Bold"/>
                <a:cs typeface="Now Bold"/>
                <a:sym typeface="Now Bold"/>
              </a:rPr>
              <a:t>MODELO DATOS RELACIONAL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55754" y="2894875"/>
            <a:ext cx="404348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true">
                <a:solidFill>
                  <a:srgbClr val="4E6288"/>
                </a:solidFill>
                <a:latin typeface="Now Bold"/>
                <a:ea typeface="Now Bold"/>
                <a:cs typeface="Now Bold"/>
                <a:sym typeface="Now Bold"/>
              </a:rPr>
              <a:t>Diseño del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DAHYH179e9s</dc:identifier>
  <dcterms:modified xsi:type="dcterms:W3CDTF">2011-08-01T06:04:30Z</dcterms:modified>
  <cp:revision>1</cp:revision>
  <dc:title>Presentación Fase 2</dc:title>
</cp:coreProperties>
</file>